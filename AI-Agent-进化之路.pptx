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开场:用一条时间线串起 AI Agent 的三次范式迁移 —— Prompt(怎么问)、Context(模型看见什么)、Harness(系统怎么跑)。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总览页:三段色带对应三个阶段;里程碑按时间排布。重点讲 AutoGPT 是 2023 年『超前的种子』,到 2025 年条件成熟才开花。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进入阶段 01:Prompt Engineering(提示词工程)。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左边讲起源三步,右边六张技巧卡。强调 ReAct 已经是 Agent 的雏形 —— 推理与行动交替。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四个局限层层递进,最后一条『只说不做』直指 Agent 的核心诉求 —— 引出第二阶段。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进入阶段 02:Context Engineering(上下文工程)。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核心论点:模型短期是常量,变量是上下文。右侧堆叠图展示上下文六层构成,对应下页三大技术。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三大技术各配三要点与年份戳。收尾一句『共同本质』把三者统一到 context 概念上。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进入阶段 03:Harness Engineering(运行时工程)。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定义用『引擎与整车』比喻;五大能力芯片是 Harness 的检查清单;右侧纵向时间线讲框架演进脉络。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三种哲学:实验派(AutoGPT)、协议派(ACPAgent)、产品派(OpenClaw)。底部一行串起三者的演进关系。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对比表横向读出范式变化,重点讲『人的角色』一行:提问者 → 管家 → 授权者。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收尾:时间线虚线延伸向『?』—— 下一个范式未知,但工程方法会一直演进。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097280"/>
            <a:ext cx="3474720" cy="3474720"/>
          </a:xfrm>
          <a:prstGeom prst="ellipse">
            <a:avLst/>
          </a:prstGeom>
          <a:solidFill>
            <a:srgbClr val="3EE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365760"/>
            <a:ext cx="3108960" cy="3108960"/>
          </a:xfrm>
          <a:prstGeom prst="ellipse">
            <a:avLst/>
          </a:prstGeom>
          <a:solidFill>
            <a:srgbClr val="A78BFA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566160"/>
            <a:ext cx="2560320" cy="256032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457200"/>
            <a:ext cx="5120640" cy="5120640"/>
          </a:xfrm>
          <a:prstGeom prst="ellipse">
            <a:avLst/>
          </a:prstGeom>
          <a:solidFill>
            <a:srgbClr val="1B2B4A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EVOLUTION · 2020 —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93268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进化之路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95528" y="18288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Prompt、Context 到 Harness —— 三次范式迁移,一条时间线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017520"/>
            <a:ext cx="758952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17520"/>
            <a:ext cx="594360" cy="0"/>
          </a:xfrm>
          <a:prstGeom prst="line">
            <a:avLst/>
          </a:prstGeom>
          <a:noFill/>
          <a:ln w="28575">
            <a:solidFill>
              <a:srgbClr val="3EE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017520"/>
            <a:ext cx="3154680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017520"/>
            <a:ext cx="3108960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95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4984" y="2660904"/>
            <a:ext cx="713232" cy="713232"/>
          </a:xfrm>
          <a:prstGeom prst="ellipse">
            <a:avLst/>
          </a:prstGeom>
          <a:solidFill>
            <a:srgbClr val="3EE0FF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" y="2734056"/>
            <a:ext cx="566928" cy="566928"/>
          </a:xfrm>
          <a:prstGeom prst="ellipse">
            <a:avLst/>
          </a:prstGeom>
          <a:solidFill>
            <a:srgbClr val="3EE0FF">
              <a:alpha val="20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207" y="2887127"/>
            <a:ext cx="260787" cy="2607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8288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Engineering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82880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 · 2020 – 2023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2880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让模型听懂人话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29000" y="2395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69664" y="2660904"/>
            <a:ext cx="713232" cy="713232"/>
          </a:xfrm>
          <a:prstGeom prst="ellipse">
            <a:avLst/>
          </a:prstGeom>
          <a:solidFill>
            <a:srgbClr val="A78BFA">
              <a:alpha val="1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242816" y="2734056"/>
            <a:ext cx="566928" cy="566928"/>
          </a:xfrm>
          <a:prstGeom prst="ellipse">
            <a:avLst/>
          </a:prstGeom>
          <a:solidFill>
            <a:srgbClr val="A78BFA">
              <a:alpha val="20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887" y="2887127"/>
            <a:ext cx="260787" cy="2607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33756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Engineering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337560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 · 2023 – 2025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337560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让模型看见世界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37960" y="2395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278624" y="2660904"/>
            <a:ext cx="713232" cy="713232"/>
          </a:xfrm>
          <a:prstGeom prst="ellipse">
            <a:avLst/>
          </a:prstGeom>
          <a:solidFill>
            <a:srgbClr val="4ADE80">
              <a:alpha val="18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7351776" y="2734056"/>
            <a:ext cx="566928" cy="566928"/>
          </a:xfrm>
          <a:prstGeom prst="ellipse">
            <a:avLst/>
          </a:prstGeom>
          <a:solidFill>
            <a:srgbClr val="4ADE80">
              <a:alpha val="2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847" y="2887127"/>
            <a:ext cx="260787" cy="26078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4652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6446520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运行时工程 · 2025 →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446520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让模型动手干活</a:t>
            </a:r>
            <a:endParaRPr lang="en-US" sz="10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944368"/>
            <a:ext cx="146304" cy="14630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211312" y="31638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795528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AGENT · EVOLUTION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675120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 · 技术分享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 · 全景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三次范式迁移,一条进化主线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3127248" cy="365760"/>
          </a:xfrm>
          <a:prstGeom prst="roundRect">
            <a:avLst>
              <a:gd name="adj" fmla="val 15000"/>
            </a:avLst>
          </a:prstGeom>
          <a:solidFill>
            <a:srgbClr val="3EE0FF">
              <a:alpha val="13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984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PROMPT ENGINEERING   2020–2023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14216" y="1298448"/>
            <a:ext cx="2615184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13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14216" y="12984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CONTEXT ENGINEERING   2023–2025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39128" y="1298448"/>
            <a:ext cx="1627632" cy="365760"/>
          </a:xfrm>
          <a:prstGeom prst="roundRect">
            <a:avLst>
              <a:gd name="adj" fmla="val 15000"/>
            </a:avLst>
          </a:prstGeom>
          <a:solidFill>
            <a:srgbClr val="4ADE80">
              <a:alpha val="13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2984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HARNESS   2025 →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7589520" cy="0"/>
          </a:xfrm>
          <a:prstGeom prst="line">
            <a:avLst/>
          </a:prstGeom>
          <a:noFill/>
          <a:ln w="15875">
            <a:solidFill>
              <a:srgbClr val="2434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56032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1016" y="2642616"/>
            <a:ext cx="201168" cy="201168"/>
          </a:xfrm>
          <a:prstGeom prst="ellipse">
            <a:avLst/>
          </a:prstGeom>
          <a:solidFill>
            <a:srgbClr val="3EE0FF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25880" y="2697480"/>
            <a:ext cx="91440" cy="91440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836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2020.05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GPT-3 发布,Few-Shot 惊艳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74320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2642616"/>
            <a:ext cx="201168" cy="201168"/>
          </a:xfrm>
          <a:prstGeom prst="ellipse">
            <a:avLst/>
          </a:prstGeom>
          <a:solidFill>
            <a:srgbClr val="3EE0FF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2697480"/>
            <a:ext cx="91440" cy="91440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296265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2022.11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ChatGPT,提示词大众化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56032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57016" y="2642616"/>
            <a:ext cx="201168" cy="201168"/>
          </a:xfrm>
          <a:prstGeom prst="ellipse">
            <a:avLst/>
          </a:prstGeom>
          <a:solidFill>
            <a:srgbClr val="3EE0FF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11880" y="2697480"/>
            <a:ext cx="91440" cy="91440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18836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2023.03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AutoGPT,超前的种子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74320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2642616"/>
            <a:ext cx="201168" cy="201168"/>
          </a:xfrm>
          <a:prstGeom prst="ellipse">
            <a:avLst/>
          </a:prstGeom>
          <a:solidFill>
            <a:srgbClr val="A78BFA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69748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296265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2023.06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Calling 工具化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56032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3016" y="2642616"/>
            <a:ext cx="201168" cy="201168"/>
          </a:xfrm>
          <a:prstGeom prst="ellipse">
            <a:avLst/>
          </a:prstGeom>
          <a:solidFill>
            <a:srgbClr val="A78BFA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97880" y="269748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8836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2024.11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MCP,工具生态统一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274320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8856" y="2642616"/>
            <a:ext cx="201168" cy="201168"/>
          </a:xfrm>
          <a:prstGeom prst="ellipse">
            <a:avLst/>
          </a:prstGeom>
          <a:solidFill>
            <a:srgbClr val="A78BFA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03720" y="269748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296265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Eng. 成显学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36992" y="2560320"/>
            <a:ext cx="0" cy="182880"/>
          </a:xfrm>
          <a:prstGeom prst="line">
            <a:avLst/>
          </a:prstGeom>
          <a:noFill/>
          <a:ln w="9525">
            <a:solidFill>
              <a:srgbClr val="5E6E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36408" y="2642616"/>
            <a:ext cx="201168" cy="201168"/>
          </a:xfrm>
          <a:prstGeom prst="ellipse">
            <a:avLst/>
          </a:prstGeom>
          <a:solidFill>
            <a:srgbClr val="4ADE80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91272" y="269748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7159752" y="18836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 Agent:ACP · OpenClaw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" y="3931920"/>
            <a:ext cx="7589520" cy="530352"/>
          </a:xfrm>
          <a:prstGeom prst="roundRect">
            <a:avLst>
              <a:gd name="adj" fmla="val 1206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32688" y="4023360"/>
            <a:ext cx="347472" cy="347472"/>
          </a:xfrm>
          <a:prstGeom prst="ellipse">
            <a:avLst/>
          </a:prstGeom>
          <a:solidFill>
            <a:srgbClr val="A78BFA">
              <a:alpha val="16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05" y="4117177"/>
            <a:ext cx="159837" cy="159837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417320" y="393192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范式迁移的本质: </a:t>
            </a:r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上一代的核心手艺,沉淀为下一代的默认能力 —— Prompt 会被自动生成,上下文会被自动管理,人退到授权与监督层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37360" y="46817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572000" y="4681728"/>
            <a:ext cx="2834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600200" y="4544568"/>
            <a:ext cx="274320" cy="274320"/>
          </a:xfrm>
          <a:prstGeom prst="ellipse">
            <a:avLst/>
          </a:prstGeom>
          <a:solidFill>
            <a:srgbClr val="3EE0FF">
              <a:alpha val="3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50" name="Text 47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434840" y="4544568"/>
            <a:ext cx="274320" cy="27432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3" name="Text 50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269480" y="4544568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56" name="Text 53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91440"/>
            <a:ext cx="4023360" cy="4023360"/>
          </a:xfrm>
          <a:prstGeom prst="ellipse">
            <a:avLst/>
          </a:prstGeom>
          <a:solidFill>
            <a:srgbClr val="3EE0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3383280"/>
            <a:ext cx="2194560" cy="2194560"/>
          </a:xfrm>
          <a:prstGeom prst="ellipse">
            <a:avLst/>
          </a:prstGeom>
          <a:solidFill>
            <a:srgbClr val="3EE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64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1051560" cy="1051560"/>
          </a:xfrm>
          <a:prstGeom prst="ellipse">
            <a:avLst/>
          </a:prstGeom>
          <a:solidFill>
            <a:srgbClr val="3EE0FF">
              <a:alpha val="18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721" y="1472641"/>
            <a:ext cx="483718" cy="4837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33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 · 2020 – 2023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426464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Engineering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95528" y="2066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把『怎么问』变成一门工程学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" y="2926080"/>
            <a:ext cx="603504" cy="384048"/>
          </a:xfrm>
          <a:prstGeom prst="roundRect">
            <a:avLst>
              <a:gd name="adj" fmla="val 23810"/>
            </a:avLst>
          </a:prstGeom>
          <a:solidFill>
            <a:srgbClr val="3EE0FF">
              <a:alpha val="9000"/>
            </a:srgbClr>
          </a:solidFill>
          <a:ln w="9525">
            <a:solidFill>
              <a:srgbClr val="3EE0FF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92608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起源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563624" y="292608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3EE0FF">
              <a:alpha val="9000"/>
            </a:srgbClr>
          </a:solidFill>
          <a:ln w="9525">
            <a:solidFill>
              <a:srgbClr val="3EE0FF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63624" y="292608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核心技巧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926080"/>
            <a:ext cx="749808" cy="384048"/>
          </a:xfrm>
          <a:prstGeom prst="roundRect">
            <a:avLst>
              <a:gd name="adj" fmla="val 23810"/>
            </a:avLst>
          </a:prstGeom>
          <a:solidFill>
            <a:srgbClr val="3EE0FF">
              <a:alpha val="9000"/>
            </a:srgbClr>
          </a:solidFill>
          <a:ln w="9525">
            <a:solidFill>
              <a:srgbClr val="3EE0FF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24328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2245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2245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63624" y="4050792"/>
            <a:ext cx="347472" cy="347472"/>
          </a:xfrm>
          <a:prstGeom prst="ellipse">
            <a:avLst/>
          </a:prstGeom>
          <a:solidFill>
            <a:srgbClr val="3EE0FF">
              <a:alpha val="3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677924" y="4165092"/>
            <a:ext cx="118872" cy="118872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12564" y="4165092"/>
            <a:ext cx="118872" cy="118872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47204" y="4165092"/>
            <a:ext cx="118872" cy="118872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 · ORIGIN &amp; TECHNIQUES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起源:Prompt 就是编程语言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788920" cy="3127248"/>
          </a:xfrm>
          <a:prstGeom prst="roundRect">
            <a:avLst>
              <a:gd name="adj" fmla="val 2295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起源三步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810512"/>
            <a:ext cx="603504" cy="219456"/>
          </a:xfrm>
          <a:prstGeom prst="roundRect">
            <a:avLst>
              <a:gd name="adj" fmla="val 20833"/>
            </a:avLst>
          </a:prstGeom>
          <a:solidFill>
            <a:srgbClr val="3EE0FF">
              <a:alpha val="14000"/>
            </a:srgbClr>
          </a:solidFill>
          <a:ln w="9525">
            <a:solidFill>
              <a:srgbClr val="3EE0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2020.05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GPT-3 论文:无需微调,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给几个示例就能完成任务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523744"/>
            <a:ext cx="603504" cy="219456"/>
          </a:xfrm>
          <a:prstGeom prst="roundRect">
            <a:avLst>
              <a:gd name="adj" fmla="val 20833"/>
            </a:avLst>
          </a:prstGeom>
          <a:solidFill>
            <a:srgbClr val="3EE0FF">
              <a:alpha val="14000"/>
            </a:srgbClr>
          </a:solidFill>
          <a:ln w="9525">
            <a:solidFill>
              <a:srgbClr val="3EE0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237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2022.01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77977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CoT 论文:「一步步思考」,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让推理能力涌现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236976"/>
            <a:ext cx="603504" cy="219456"/>
          </a:xfrm>
          <a:prstGeom prst="roundRect">
            <a:avLst>
              <a:gd name="adj" fmla="val 20833"/>
            </a:avLst>
          </a:prstGeom>
          <a:solidFill>
            <a:srgbClr val="3EE0FF">
              <a:alpha val="14000"/>
            </a:srgbClr>
          </a:solidFill>
          <a:ln w="9525">
            <a:solidFill>
              <a:srgbClr val="3EE0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369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2022.11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4930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上线:Prompt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从论文技巧变成全民技能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950208"/>
            <a:ext cx="164592" cy="1645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0120" y="38953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i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是人与大模型的编程接口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56432" y="1298448"/>
            <a:ext cx="251460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84448" y="1572768"/>
            <a:ext cx="384048" cy="384048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141" y="1676461"/>
            <a:ext cx="176662" cy="17666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078224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零样本 Zero-shot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078224" y="17007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直接下达指令,模型即刻作答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99048" y="1298448"/>
            <a:ext cx="251460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27064" y="1572768"/>
            <a:ext cx="384048" cy="384048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757" y="1676461"/>
            <a:ext cx="176662" cy="17666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0840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 Few-shot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720840" y="17007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给几个示例,照葫芦画瓢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456432" y="2395728"/>
            <a:ext cx="251460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84448" y="2670048"/>
            <a:ext cx="384048" cy="384048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141" y="2773741"/>
            <a:ext cx="176662" cy="17666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078224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思维链 CoT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078224" y="27980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先一步步推理,再给出答案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099048" y="2395728"/>
            <a:ext cx="251460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227064" y="2670048"/>
            <a:ext cx="384048" cy="384048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757" y="2773741"/>
            <a:ext cx="176662" cy="17666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72084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自一致性 SC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6720840" y="27980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多次推理取多数,答案更稳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456432" y="3493008"/>
            <a:ext cx="251460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3584448" y="3767328"/>
            <a:ext cx="384048" cy="384048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8141" y="3871021"/>
            <a:ext cx="176662" cy="17666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078224" y="36393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推理+行动 ReAct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4078224" y="389534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想一步做一步,工具调用雏形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099048" y="3493008"/>
            <a:ext cx="251460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227064" y="3767328"/>
            <a:ext cx="384048" cy="384048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0757" y="3871021"/>
            <a:ext cx="176662" cy="17666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720840" y="36393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 Role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6720840" y="389534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「你是资深架构师」先定基调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600200" y="4544568"/>
            <a:ext cx="274320" cy="274320"/>
          </a:xfrm>
          <a:prstGeom prst="ellipse">
            <a:avLst/>
          </a:prstGeom>
          <a:solidFill>
            <a:srgbClr val="3EE0FF">
              <a:alpha val="30000"/>
            </a:srgbClr>
          </a:solidFill>
          <a:ln/>
        </p:spPr>
      </p:sp>
      <p:sp>
        <p:nvSpPr>
          <p:cNvPr id="51" name="Shape 42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52" name="Text 43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 · LIMITATIONS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天花板:只会『说』的智能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023360" cy="1225296"/>
          </a:xfrm>
          <a:prstGeom prst="roundRect">
            <a:avLst>
              <a:gd name="adj" fmla="val 5224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499616"/>
            <a:ext cx="420624" cy="420624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92" y="1613184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7864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上下文有限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97864" y="179222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窗口只有数千 token,长任务、长文档『装不下』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298448"/>
            <a:ext cx="4023360" cy="1225296"/>
          </a:xfrm>
          <a:prstGeom prst="roundRect">
            <a:avLst>
              <a:gd name="adj" fmla="val 5224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4024" y="1499616"/>
            <a:ext cx="420624" cy="420624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592" y="1613184"/>
            <a:ext cx="193487" cy="1934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12664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没有记忆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312664" y="179222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无状态、不进化,每次对话都从零开始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2651760"/>
            <a:ext cx="4023360" cy="1225296"/>
          </a:xfrm>
          <a:prstGeom prst="roundRect">
            <a:avLst>
              <a:gd name="adj" fmla="val 5224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" y="2852928"/>
            <a:ext cx="420624" cy="420624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92" y="2966496"/>
            <a:ext cx="193487" cy="1934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97864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知识冻结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97864" y="3145536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训练截止日之后的世界,模型一无所知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17720" y="2651760"/>
            <a:ext cx="4023360" cy="1225296"/>
          </a:xfrm>
          <a:prstGeom prst="roundRect">
            <a:avLst>
              <a:gd name="adj" fmla="val 5224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64024" y="2852928"/>
            <a:ext cx="420624" cy="420624"/>
          </a:xfrm>
          <a:prstGeom prst="ellipse">
            <a:avLst/>
          </a:prstGeom>
          <a:solidFill>
            <a:srgbClr val="3EE0FF">
              <a:alpha val="16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592" y="2966496"/>
            <a:ext cx="193487" cy="1934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12664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只说不做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312664" y="3145536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会幻觉、不稳定,更无法执行真实动作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2920" y="4041648"/>
            <a:ext cx="8138160" cy="512064"/>
          </a:xfrm>
          <a:prstGeom prst="roundRect">
            <a:avLst>
              <a:gd name="adj" fmla="val 12500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187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0704" y="404164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破局思路: </a:t>
            </a:r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把功夫下在模型之外 —— 喂上下文、给记忆、接工具,于是有了 </a:t>
            </a:r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Engineering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600200" y="4544568"/>
            <a:ext cx="274320" cy="274320"/>
          </a:xfrm>
          <a:prstGeom prst="ellipse">
            <a:avLst/>
          </a:prstGeom>
          <a:solidFill>
            <a:srgbClr val="3EE0FF">
              <a:alpha val="30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32" name="Text 25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91440"/>
            <a:ext cx="4023360" cy="402336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3383280"/>
            <a:ext cx="2194560" cy="219456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32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1051560" cy="1051560"/>
          </a:xfrm>
          <a:prstGeom prst="ellipse">
            <a:avLst/>
          </a:prstGeom>
          <a:solidFill>
            <a:srgbClr val="A78BFA">
              <a:alpha val="18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721" y="1472641"/>
            <a:ext cx="483718" cy="4837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33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 · 2023 –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426464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Engineering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95528" y="2066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上下文的质量,决定模型的上限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" y="2926080"/>
            <a:ext cx="1042416" cy="384048"/>
          </a:xfrm>
          <a:prstGeom prst="roundRect">
            <a:avLst>
              <a:gd name="adj" fmla="val 23810"/>
            </a:avLst>
          </a:prstGeom>
          <a:solidFill>
            <a:srgbClr val="A78BFA">
              <a:alpha val="9000"/>
            </a:srgbClr>
          </a:solidFill>
          <a:ln w="9525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9260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02536" y="2926080"/>
            <a:ext cx="749808" cy="384048"/>
          </a:xfrm>
          <a:prstGeom prst="roundRect">
            <a:avLst>
              <a:gd name="adj" fmla="val 23810"/>
            </a:avLst>
          </a:prstGeom>
          <a:solidFill>
            <a:srgbClr val="A78BFA">
              <a:alpha val="9000"/>
            </a:srgbClr>
          </a:solidFill>
          <a:ln w="9525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02536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916936" y="292608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A78BFA">
              <a:alpha val="9000"/>
            </a:srgbClr>
          </a:solidFill>
          <a:ln w="9525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16936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70248" y="2926080"/>
            <a:ext cx="1481328" cy="384048"/>
          </a:xfrm>
          <a:prstGeom prst="roundRect">
            <a:avLst>
              <a:gd name="adj" fmla="val 23810"/>
            </a:avLst>
          </a:prstGeom>
          <a:solidFill>
            <a:srgbClr val="A78BFA">
              <a:alpha val="9000"/>
            </a:srgbClr>
          </a:solidFill>
          <a:ln w="9525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70248" y="29260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Use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2960" y="42245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2245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37360" y="42245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77924" y="4165092"/>
            <a:ext cx="118872" cy="118872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98264" y="4050792"/>
            <a:ext cx="347472" cy="347472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512564" y="4165092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6" name="Text 23"/>
          <p:cNvSpPr/>
          <p:nvPr/>
        </p:nvSpPr>
        <p:spPr>
          <a:xfrm>
            <a:off x="384048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47204" y="4165092"/>
            <a:ext cx="118872" cy="118872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 · WHY CONTEXT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Context 比 Prompt 更重要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4475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4081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模型能力短期近似恒定,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输出质量 ≈ f(你喂给它的上下文)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87552" y="19751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把优化对象,从『问法』换成『信息供给』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144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41401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优化「怎么问」,Context 优化「模型看见什么」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90088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96265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注意力是稀缺资源:无关信息会稀释效果(Lost in the Middle)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38728"/>
            <a:ext cx="146304" cy="146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51129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2024–2025,Karpathy 与 Anthropic 先后为这一范式正名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48640" y="40965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4K → 1M+ </a:t>
            </a:r>
            <a:pPr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tokens · 窗口两年扩容 256 倍,但『喂什么』比『喂多少』更关键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489204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≠ 提示词 —— 它的构成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892040" y="1645920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8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1746504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76672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系统指令 System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717804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角色与规则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4892040" y="2121408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A78BFA">
              <a:alpha val="14000"/>
            </a:srgbClr>
          </a:solidFill>
          <a:ln w="9525">
            <a:solidFill>
              <a:srgbClr val="A78BFA">
                <a:alpha val="38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222199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76672" y="21214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对话历史 History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7178040" y="21214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当前会话状态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4892040" y="2596896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>
                <a:alpha val="3800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269748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76672" y="25968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检索知识 RAG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7178040" y="2596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外部知识实时注入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4892040" y="3072384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A78BFA">
              <a:alpha val="22000"/>
            </a:srgbClr>
          </a:solidFill>
          <a:ln w="9525">
            <a:solidFill>
              <a:srgbClr val="A78BFA">
                <a:alpha val="3800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6632" y="317296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76672" y="3072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 Memory</a:t>
            </a:r>
            <a:endParaRPr lang="en-US" sz="1050" dirty="0"/>
          </a:p>
        </p:txBody>
      </p:sp>
      <p:sp>
        <p:nvSpPr>
          <p:cNvPr id="32" name="Text 22"/>
          <p:cNvSpPr/>
          <p:nvPr/>
        </p:nvSpPr>
        <p:spPr>
          <a:xfrm>
            <a:off x="7178040" y="30723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跨会话沉淀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4892040" y="3547872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A78BFA">
              <a:alpha val="26000"/>
            </a:srgbClr>
          </a:solidFill>
          <a:ln w="9525">
            <a:solidFill>
              <a:srgbClr val="A78BFA">
                <a:alpha val="38000"/>
              </a:srgbClr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6632" y="3648456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376672" y="3547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 Tools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7178040" y="3547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执行后的反馈</a:t>
            </a:r>
            <a:endParaRPr lang="en-US" sz="850" dirty="0"/>
          </a:p>
        </p:txBody>
      </p:sp>
      <p:sp>
        <p:nvSpPr>
          <p:cNvPr id="37" name="Shape 26"/>
          <p:cNvSpPr/>
          <p:nvPr/>
        </p:nvSpPr>
        <p:spPr>
          <a:xfrm>
            <a:off x="4892040" y="4023360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A78BFA">
              <a:alpha val="30000"/>
            </a:srgbClr>
          </a:solidFill>
          <a:ln w="9525">
            <a:solidFill>
              <a:srgbClr val="A78BFA">
                <a:alpha val="38000"/>
              </a:srgbClr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6632" y="4123944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376672" y="40233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环境状态 Env</a:t>
            </a:r>
            <a:endParaRPr lang="en-US" sz="1050" dirty="0"/>
          </a:p>
        </p:txBody>
      </p:sp>
      <p:sp>
        <p:nvSpPr>
          <p:cNvPr id="40" name="Text 28"/>
          <p:cNvSpPr/>
          <p:nvPr/>
        </p:nvSpPr>
        <p:spPr>
          <a:xfrm>
            <a:off x="7178040" y="40233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· 光标 · 时间</a:t>
            </a:r>
            <a:endParaRPr lang="en-US" sz="850" dirty="0"/>
          </a:p>
        </p:txBody>
      </p:sp>
      <p:sp>
        <p:nvSpPr>
          <p:cNvPr id="41" name="Shape 29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1737360" y="46817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46" name="Shape 34"/>
          <p:cNvSpPr/>
          <p:nvPr/>
        </p:nvSpPr>
        <p:spPr>
          <a:xfrm>
            <a:off x="4434840" y="4544568"/>
            <a:ext cx="274320" cy="27432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47" name="Shape 35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8" name="Text 36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 · KEY TECHNIQUES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三大件:RAG · Memory · Tool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24328" cy="2999232"/>
          </a:xfrm>
          <a:prstGeom prst="roundRect">
            <a:avLst>
              <a:gd name="adj" fmla="val 243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463040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58648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34440" y="1755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2208276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" y="2139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外挂知识库,向量检索 Top-K 注入上下文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2775204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270662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破解知识过时与私有数据盲区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" y="3342132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" y="327355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答案可溯源,幻觉率显著下降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7512" y="3913632"/>
            <a:ext cx="2295144" cy="256032"/>
          </a:xfrm>
          <a:prstGeom prst="roundRect">
            <a:avLst>
              <a:gd name="adj" fmla="val 17857"/>
            </a:avLst>
          </a:prstGeom>
          <a:solidFill>
            <a:srgbClr val="A78BFA">
              <a:alpha val="13000"/>
            </a:srgbClr>
          </a:solidFill>
          <a:ln w="952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391363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 论文提出 · 2023 企业标配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18688" y="1298448"/>
            <a:ext cx="2624328" cy="2999232"/>
          </a:xfrm>
          <a:prstGeom prst="roundRect">
            <a:avLst>
              <a:gd name="adj" fmla="val 243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83280" y="1463040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1586484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50208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3950208" y="1755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401568" y="2208276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0"/>
          <p:cNvSpPr/>
          <p:nvPr/>
        </p:nvSpPr>
        <p:spPr>
          <a:xfrm>
            <a:off x="3575304" y="2139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短期记忆:会话内的完整轨迹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01568" y="2775204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2"/>
          <p:cNvSpPr/>
          <p:nvPr/>
        </p:nvSpPr>
        <p:spPr>
          <a:xfrm>
            <a:off x="3575304" y="270662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长期记忆:沉淀到向量库与文件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01568" y="3342132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4"/>
          <p:cNvSpPr/>
          <p:nvPr/>
        </p:nvSpPr>
        <p:spPr>
          <a:xfrm>
            <a:off x="3575304" y="327355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记得「你是谁、做过什么」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83280" y="3913632"/>
            <a:ext cx="2295144" cy="256032"/>
          </a:xfrm>
          <a:prstGeom prst="roundRect">
            <a:avLst>
              <a:gd name="adj" fmla="val 17857"/>
            </a:avLst>
          </a:prstGeom>
          <a:solidFill>
            <a:srgbClr val="A78BFA">
              <a:alpha val="13000"/>
            </a:srgbClr>
          </a:solidFill>
          <a:ln w="952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83280" y="391363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短期 + 长期 双层架构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5934456" y="1298448"/>
            <a:ext cx="2624328" cy="2999232"/>
          </a:xfrm>
          <a:prstGeom prst="roundRect">
            <a:avLst>
              <a:gd name="adj" fmla="val 243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099048" y="1463040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92" y="1586484"/>
            <a:ext cx="210312" cy="21031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65976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Use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6665976" y="1755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117336" y="2208276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2"/>
          <p:cNvSpPr/>
          <p:nvPr/>
        </p:nvSpPr>
        <p:spPr>
          <a:xfrm>
            <a:off x="6291072" y="2139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模型输出结构化「意图」,外部执行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117336" y="2775204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4"/>
          <p:cNvSpPr/>
          <p:nvPr/>
        </p:nvSpPr>
        <p:spPr>
          <a:xfrm>
            <a:off x="6291072" y="270662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Calling 让调用标准化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117336" y="3342132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1" name="Text 36"/>
          <p:cNvSpPr/>
          <p:nvPr/>
        </p:nvSpPr>
        <p:spPr>
          <a:xfrm>
            <a:off x="6291072" y="327355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让工具生态即插即用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099048" y="3913632"/>
            <a:ext cx="2295144" cy="256032"/>
          </a:xfrm>
          <a:prstGeom prst="roundRect">
            <a:avLst>
              <a:gd name="adj" fmla="val 17857"/>
            </a:avLst>
          </a:prstGeom>
          <a:solidFill>
            <a:srgbClr val="A78BFA">
              <a:alpha val="13000"/>
            </a:srgbClr>
          </a:solidFill>
          <a:ln w="952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099048" y="391363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2023.06 · MCP 2024.11</a:t>
            </a:r>
            <a:endParaRPr lang="en-US" sz="8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443984"/>
            <a:ext cx="146304" cy="14630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2697480" y="4389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共同本质:把模型之外的信息,变成模型上下文的一部分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737360" y="46817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4434840" y="4544568"/>
            <a:ext cx="274320" cy="27432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3" name="Text 47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91440"/>
            <a:ext cx="4023360" cy="4023360"/>
          </a:xfrm>
          <a:prstGeom prst="ellipse">
            <a:avLst/>
          </a:prstGeom>
          <a:solidFill>
            <a:srgbClr val="4ADE8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3383280"/>
            <a:ext cx="2194560" cy="219456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73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1051560" cy="1051560"/>
          </a:xfrm>
          <a:prstGeom prst="ellipse">
            <a:avLst/>
          </a:prstGeom>
          <a:solidFill>
            <a:srgbClr val="4ADE80">
              <a:alpha val="18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721" y="1472641"/>
            <a:ext cx="483718" cy="4837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33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 · 2025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426464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95528" y="2066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运行时工程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从『会说』到『会做』:让系统自己跑起来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" y="292608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4ADE80">
              <a:alpha val="9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92608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框架演进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856232" y="2926080"/>
            <a:ext cx="896112" cy="384048"/>
          </a:xfrm>
          <a:prstGeom prst="roundRect">
            <a:avLst>
              <a:gd name="adj" fmla="val 23810"/>
            </a:avLst>
          </a:prstGeom>
          <a:solidFill>
            <a:srgbClr val="4ADE80">
              <a:alpha val="9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56232" y="292608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" y="42245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2245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37360" y="42245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4224528"/>
            <a:ext cx="2834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77924" y="4165092"/>
            <a:ext cx="118872" cy="118872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12564" y="4165092"/>
            <a:ext cx="118872" cy="118872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32904" y="4050792"/>
            <a:ext cx="347472" cy="347472"/>
          </a:xfrm>
          <a:prstGeom prst="ellipse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347204" y="4165092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 · WHAT IS A HARNESS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Harness:围绕模型的工程脚手架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657600" cy="3127248"/>
          </a:xfrm>
          <a:prstGeom prst="roundRect">
            <a:avLst>
              <a:gd name="adj" fmla="val 2047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4264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模型是引擎,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是整辆车。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048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是包裹模型的运行时:决定它如何循环、调用什么工具、保留什么上下文、拥有什么权限、何时请示人类。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2724912"/>
            <a:ext cx="1627632" cy="475488"/>
          </a:xfrm>
          <a:prstGeom prst="roundRect">
            <a:avLst>
              <a:gd name="adj" fmla="val 11538"/>
            </a:avLst>
          </a:prstGeom>
          <a:solidFill>
            <a:srgbClr val="4ADE80">
              <a:alpha val="1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6207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9848" y="272491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 自主循环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386584" y="2724912"/>
            <a:ext cx="1627632" cy="475488"/>
          </a:xfrm>
          <a:prstGeom prst="roundRect">
            <a:avLst>
              <a:gd name="adj" fmla="val 11538"/>
            </a:avLst>
          </a:prstGeom>
          <a:solidFill>
            <a:srgbClr val="4ADE80">
              <a:alpha val="1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286207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70632" y="272491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上下文压缩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85800" y="3291840"/>
            <a:ext cx="1627632" cy="475488"/>
          </a:xfrm>
          <a:prstGeom prst="roundRect">
            <a:avLst>
              <a:gd name="adj" fmla="val 11538"/>
            </a:avLst>
          </a:prstGeom>
          <a:solidFill>
            <a:srgbClr val="4ADE80">
              <a:alpha val="1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4290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9848" y="32918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权限与沙箱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2386584" y="3291840"/>
            <a:ext cx="1627632" cy="475488"/>
          </a:xfrm>
          <a:prstGeom prst="roundRect">
            <a:avLst>
              <a:gd name="adj" fmla="val 11538"/>
            </a:avLst>
          </a:prstGeom>
          <a:solidFill>
            <a:srgbClr val="4ADE80">
              <a:alpha val="1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342900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770632" y="32918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记忆管理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85800" y="3858768"/>
            <a:ext cx="1627632" cy="475488"/>
          </a:xfrm>
          <a:prstGeom prst="roundRect">
            <a:avLst>
              <a:gd name="adj" fmla="val 11538"/>
            </a:avLst>
          </a:prstGeom>
          <a:solidFill>
            <a:srgbClr val="4ADE80">
              <a:alpha val="1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99592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69848" y="3858768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 HITL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52628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框架演进:从重编排到强 Harness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700016" y="1755648"/>
            <a:ext cx="0" cy="2395728"/>
          </a:xfrm>
          <a:prstGeom prst="line">
            <a:avLst/>
          </a:prstGeom>
          <a:noFill/>
          <a:ln w="15875">
            <a:solidFill>
              <a:srgbClr val="24345A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608576" y="1700784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4654296" y="174650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0"/>
          <p:cNvSpPr/>
          <p:nvPr/>
        </p:nvSpPr>
        <p:spPr>
          <a:xfrm>
            <a:off x="4882896" y="1682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2022.10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5650992" y="1682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—— 链式编排,模型当调度器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608576" y="2176272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4654296" y="2221992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2" name="Text 24"/>
          <p:cNvSpPr/>
          <p:nvPr/>
        </p:nvSpPr>
        <p:spPr>
          <a:xfrm>
            <a:off x="4882896" y="215798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2023.03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5650992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 —— 第一次「全自主」尝试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608576" y="2651760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4654296" y="269748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6" name="Text 28"/>
          <p:cNvSpPr/>
          <p:nvPr/>
        </p:nvSpPr>
        <p:spPr>
          <a:xfrm>
            <a:off x="4882896" y="26334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2023.06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5650992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Calling —— 工具调用原语化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608576" y="3127248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39" name="Shape 31"/>
          <p:cNvSpPr/>
          <p:nvPr/>
        </p:nvSpPr>
        <p:spPr>
          <a:xfrm>
            <a:off x="4654296" y="317296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0" name="Text 32"/>
          <p:cNvSpPr/>
          <p:nvPr/>
        </p:nvSpPr>
        <p:spPr>
          <a:xfrm>
            <a:off x="4882896" y="31089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2024.11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650992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—— 工具生态统一协议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08576" y="3602736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43" name="Shape 35"/>
          <p:cNvSpPr/>
          <p:nvPr/>
        </p:nvSpPr>
        <p:spPr>
          <a:xfrm>
            <a:off x="4654296" y="3648456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4" name="Text 36"/>
          <p:cNvSpPr/>
          <p:nvPr/>
        </p:nvSpPr>
        <p:spPr>
          <a:xfrm>
            <a:off x="4882896" y="3584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2025.02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5650992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—— 极简主循环 + 强 Harness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4608576" y="4078224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47" name="Shape 39"/>
          <p:cNvSpPr/>
          <p:nvPr/>
        </p:nvSpPr>
        <p:spPr>
          <a:xfrm>
            <a:off x="4654296" y="412394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8" name="Text 40"/>
          <p:cNvSpPr/>
          <p:nvPr/>
        </p:nvSpPr>
        <p:spPr>
          <a:xfrm>
            <a:off x="4882896" y="40599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5650992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 —— 客户端与 Agent 彻底解耦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737360" y="46817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572000" y="4681728"/>
            <a:ext cx="2834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7269480" y="4544568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59" name="Shape 51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0" name="Text 52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 · REPRESENTATIVES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代表产品:三种 Harness 哲学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24328" cy="3108960"/>
          </a:xfrm>
          <a:prstGeom prst="roundRect">
            <a:avLst>
              <a:gd name="adj" fmla="val 243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444752"/>
            <a:ext cx="438912" cy="438912"/>
          </a:xfrm>
          <a:prstGeom prst="ellipse">
            <a:avLst/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018" y="1563258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1444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216152" y="1737360"/>
            <a:ext cx="1572768" cy="219456"/>
          </a:xfrm>
          <a:prstGeom prst="roundRect">
            <a:avLst>
              <a:gd name="adj" fmla="val 20833"/>
            </a:avLst>
          </a:prstGeom>
          <a:solidFill>
            <a:srgbClr val="4ADE80">
              <a:alpha val="13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17373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2023.03 · 先驱实验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85800" y="2189988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212140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首个现象级自主 Agent:给目标,自己拆解循环执行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2775204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2706624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Star 15 万+,点燃「Agent 元年」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" y="3360420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29184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循环易失控、成本高,象征意义大于实用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86784"/>
            <a:ext cx="137160" cy="1371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5256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证明了方向,也踩完了坑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18688" y="1298448"/>
            <a:ext cx="2624328" cy="3108960"/>
          </a:xfrm>
          <a:prstGeom prst="roundRect">
            <a:avLst>
              <a:gd name="adj" fmla="val 243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383280" y="1444752"/>
            <a:ext cx="438912" cy="438912"/>
          </a:xfrm>
          <a:prstGeom prst="ellipse">
            <a:avLst/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786" y="1563258"/>
            <a:ext cx="201900" cy="201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31920" y="1444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ACPAgent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3931920" y="1737360"/>
            <a:ext cx="1572768" cy="219456"/>
          </a:xfrm>
          <a:prstGeom prst="roundRect">
            <a:avLst>
              <a:gd name="adj" fmla="val 20833"/>
            </a:avLst>
          </a:prstGeom>
          <a:solidFill>
            <a:srgbClr val="4ADE80">
              <a:alpha val="13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931920" y="17373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 · 协议派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3401568" y="2189988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1"/>
          <p:cNvSpPr/>
          <p:nvPr/>
        </p:nvSpPr>
        <p:spPr>
          <a:xfrm>
            <a:off x="3575304" y="212140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Agent Client Protocol 的 Agent 实现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401568" y="2775204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Text 23"/>
          <p:cNvSpPr/>
          <p:nvPr/>
        </p:nvSpPr>
        <p:spPr>
          <a:xfrm>
            <a:off x="3575304" y="2706624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与编辑器、客户端彻底解耦,即插即用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401568" y="3360420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Text 25"/>
          <p:cNvSpPr/>
          <p:nvPr/>
        </p:nvSpPr>
        <p:spPr>
          <a:xfrm>
            <a:off x="3575304" y="329184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任意前端 × 任意 Agent,自由组合</a:t>
            </a:r>
            <a:endParaRPr 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986784"/>
            <a:ext cx="137160" cy="1371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621024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连接即能力,协议即生态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934456" y="1298448"/>
            <a:ext cx="2624328" cy="3108960"/>
          </a:xfrm>
          <a:prstGeom prst="roundRect">
            <a:avLst>
              <a:gd name="adj" fmla="val 2439"/>
            </a:avLst>
          </a:prstGeom>
          <a:solidFill>
            <a:srgbClr val="121C31"/>
          </a:solidFill>
          <a:ln w="9525">
            <a:solidFill>
              <a:srgbClr val="22305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099048" y="1444752"/>
            <a:ext cx="438912" cy="438912"/>
          </a:xfrm>
          <a:prstGeom prst="ellipse">
            <a:avLst/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554" y="1563258"/>
            <a:ext cx="201900" cy="2019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647688" y="1444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1450" dirty="0"/>
          </a:p>
        </p:txBody>
      </p:sp>
      <p:sp>
        <p:nvSpPr>
          <p:cNvPr id="37" name="Shape 30"/>
          <p:cNvSpPr/>
          <p:nvPr/>
        </p:nvSpPr>
        <p:spPr>
          <a:xfrm>
            <a:off x="6647688" y="1737360"/>
            <a:ext cx="1572768" cy="219456"/>
          </a:xfrm>
          <a:prstGeom prst="roundRect">
            <a:avLst>
              <a:gd name="adj" fmla="val 20833"/>
            </a:avLst>
          </a:prstGeom>
          <a:solidFill>
            <a:srgbClr val="4ADE80">
              <a:alpha val="13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647688" y="17373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· 常驻助理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6117336" y="2189988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0" name="Text 33"/>
          <p:cNvSpPr/>
          <p:nvPr/>
        </p:nvSpPr>
        <p:spPr>
          <a:xfrm>
            <a:off x="6291072" y="212140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开源个人 Agent,自托管、7×24 常驻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117336" y="2775204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Text 35"/>
          <p:cNvSpPr/>
          <p:nvPr/>
        </p:nvSpPr>
        <p:spPr>
          <a:xfrm>
            <a:off x="6291072" y="2706624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WhatsApp、Telegram 等日常渠道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6117336" y="3360420"/>
            <a:ext cx="64008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4" name="Text 37"/>
          <p:cNvSpPr/>
          <p:nvPr/>
        </p:nvSpPr>
        <p:spPr>
          <a:xfrm>
            <a:off x="6291072" y="329184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记忆、日程、工具齐备的完整 Harness</a:t>
            </a:r>
            <a:endParaRPr lang="en-US" sz="95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3986784"/>
            <a:ext cx="137160" cy="13716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336792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从工具,到数字分身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502920" y="44622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 验证方向  →  协议标准化连接  →  OpenClaw 把 Agent 装进生活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737360" y="46817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572000" y="4681728"/>
            <a:ext cx="2834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0A1120"/>
          </a:solidFill>
          <a:ln w="12700">
            <a:solidFill>
              <a:srgbClr val="5E6E92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65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7269480" y="4544568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57" name="Shape 49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58" name="Text 50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· 回顾与展望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一张表,看懂三次范式迁移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2286000"/>
                <a:gridCol w="228600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E0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 Prompt Engineering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78BF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 Context Engineering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DE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 Harness Engineering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8C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 – 2023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0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 – 2025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7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8C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怎么把问题问好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0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模型该看到什么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系统如何自运转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7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8C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人的角色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提问者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0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知识管家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授权者与监督者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7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8C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关键技术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Few-shot · CoT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0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· Memory · MCP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Loop · 沙箱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7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8C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0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 RAG · Copilot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1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· OpenClaw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7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21208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下一步的三个看点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4096512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3EE0FF">
              <a:alpha val="10000"/>
            </a:srgbClr>
          </a:solidFill>
          <a:ln w="9525">
            <a:solidFill>
              <a:srgbClr val="3EE0FF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2062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832" y="409651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46120" y="4096512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420624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85032" y="409651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权限与治理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989320" y="4096512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4ADE80">
              <a:alpha val="10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420624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28232" y="409651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互联 · ACP / MCP 生态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22960" y="4681728"/>
            <a:ext cx="7498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" y="4681728"/>
            <a:ext cx="914400" cy="0"/>
          </a:xfrm>
          <a:prstGeom prst="line">
            <a:avLst/>
          </a:prstGeom>
          <a:noFill/>
          <a:ln w="25400">
            <a:solidFill>
              <a:srgbClr val="3EE0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737360" y="4681728"/>
            <a:ext cx="2834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572000" y="4681728"/>
            <a:ext cx="2834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600200" y="4544568"/>
            <a:ext cx="274320" cy="274320"/>
          </a:xfrm>
          <a:prstGeom prst="ellipse">
            <a:avLst/>
          </a:prstGeom>
          <a:solidFill>
            <a:srgbClr val="3EE0FF">
              <a:alpha val="3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1687068" y="4631436"/>
            <a:ext cx="100584" cy="100584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22" name="Text 16"/>
          <p:cNvSpPr/>
          <p:nvPr/>
        </p:nvSpPr>
        <p:spPr>
          <a:xfrm>
            <a:off x="10058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2020–23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434840" y="4544568"/>
            <a:ext cx="274320" cy="27432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4521708" y="463143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19"/>
          <p:cNvSpPr/>
          <p:nvPr/>
        </p:nvSpPr>
        <p:spPr>
          <a:xfrm>
            <a:off x="384048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2023–25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7269480" y="4544568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7356348" y="4631436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2"/>
          <p:cNvSpPr/>
          <p:nvPr/>
        </p:nvSpPr>
        <p:spPr>
          <a:xfrm>
            <a:off x="667512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Harness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FA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731520"/>
            <a:ext cx="3108960" cy="3108960"/>
          </a:xfrm>
          <a:prstGeom prst="ellipse">
            <a:avLst/>
          </a:prstGeom>
          <a:solidFill>
            <a:srgbClr val="3EE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560320"/>
            <a:ext cx="3291840" cy="3291840"/>
          </a:xfrm>
          <a:prstGeom prst="ellipse">
            <a:avLst/>
          </a:prstGeom>
          <a:solidFill>
            <a:srgbClr val="4ADE80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468880" y="457200"/>
            <a:ext cx="4206240" cy="420624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96926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AA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范式会继续迁移,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AF1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工程永不止步。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615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ctr" indent="0" marL="0">
              <a:buNone/>
            </a:pPr>
            <a:r>
              <a:rPr lang="en-US" sz="1400" dirty="0">
                <a:solidFill>
                  <a:srgbClr val="5E6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pPr algn="ctr" indent="0" marL="0">
              <a:buNone/>
            </a:pPr>
            <a:r>
              <a:rPr lang="en-US" sz="1400" dirty="0">
                <a:solidFill>
                  <a:srgbClr val="5E6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pPr algn="ctr" indent="0" marL="0">
              <a:buNone/>
            </a:pPr>
            <a:r>
              <a:rPr lang="en-US" sz="1400" b="1" dirty="0">
                <a:solidFill>
                  <a:srgbClr val="9AA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566160"/>
            <a:ext cx="512064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3566160"/>
            <a:ext cx="3749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60320" y="3474720"/>
            <a:ext cx="182880" cy="182880"/>
          </a:xfrm>
          <a:prstGeom prst="ellipse">
            <a:avLst/>
          </a:prstGeom>
          <a:solidFill>
            <a:srgbClr val="3EE0FF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3520440"/>
            <a:ext cx="91440" cy="91440"/>
          </a:xfrm>
          <a:prstGeom prst="ellipse">
            <a:avLst/>
          </a:prstGeom>
          <a:solidFill>
            <a:srgbClr val="3EE0FF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3474720"/>
            <a:ext cx="182880" cy="182880"/>
          </a:xfrm>
          <a:prstGeom prst="ellipse">
            <a:avLst/>
          </a:prstGeom>
          <a:solidFill>
            <a:srgbClr val="A78BFA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69080" y="352044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182880" cy="182880"/>
          </a:xfrm>
          <a:prstGeom prst="ellipse">
            <a:avLst/>
          </a:prstGeom>
          <a:solidFill>
            <a:srgbClr val="4ADE80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352044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8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3493008"/>
            <a:ext cx="146304" cy="14630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60336" y="3410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0" y="42245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Q&amp;A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9244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进化之路</dc:title>
  <dc:subject>PptxGenJS Presentation</dc:subject>
  <dc:creator>ZCode</dc:creator>
  <cp:lastModifiedBy>ZCode</cp:lastModifiedBy>
  <cp:revision>1</cp:revision>
  <dcterms:created xsi:type="dcterms:W3CDTF">2026-09-01T13:36:19Z</dcterms:created>
  <dcterms:modified xsi:type="dcterms:W3CDTF">2026-09-01T13:36:19Z</dcterms:modified>
</cp:coreProperties>
</file>